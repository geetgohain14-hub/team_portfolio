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2.png"/><Relationship Id="rId5" Type="http://schemas.openxmlformats.org/officeDocument/2006/relationships/image" Target="../media/image-7-5.png"/><Relationship Id="rId6" Type="http://schemas.openxmlformats.org/officeDocument/2006/relationships/image" Target="../media/image-7-2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2.png"/><Relationship Id="rId5" Type="http://schemas.openxmlformats.org/officeDocument/2006/relationships/image" Target="../media/image-13-5.png"/><Relationship Id="rId6" Type="http://schemas.openxmlformats.org/officeDocument/2006/relationships/image" Target="../media/image-13-2.png"/><Relationship Id="rId7" Type="http://schemas.openxmlformats.org/officeDocument/2006/relationships/image" Target="../media/image-13-7.png"/><Relationship Id="rId8" Type="http://schemas.openxmlformats.org/officeDocument/2006/relationships/image" Target="../media/image-13-2.png"/><Relationship Id="rId9" Type="http://schemas.openxmlformats.org/officeDocument/2006/relationships/image" Target="../media/image-1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5074920"/>
            <a:ext cx="2743200" cy="0"/>
          </a:xfrm>
          <a:prstGeom prst="line">
            <a:avLst/>
          </a:prstGeom>
          <a:noFill/>
          <a:ln w="25400">
            <a:solidFill>
              <a:srgbClr val="C9A1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9601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500" kern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 TECH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468880"/>
            <a:ext cx="1024128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5000" b="1" dirty="0">
                <a:solidFill>
                  <a:srgbClr val="F7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BRAND</a:t>
            </a:r>
            <a:endParaRPr lang="en-US" sz="5000" dirty="0"/>
          </a:p>
          <a:p>
            <a:pPr algn="l" indent="0" marL="0">
              <a:lnSpc>
                <a:spcPts val="5400"/>
              </a:lnSpc>
              <a:buNone/>
            </a:pPr>
            <a:r>
              <a:rPr lang="en-US" sz="5000" b="1" dirty="0">
                <a:solidFill>
                  <a:srgbClr val="F7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BEHIND THE BUILD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822960" y="525780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9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social media marketing &amp; content production partnership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9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turn Cura Tech into a premium, trusted construction brand.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60533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 ·  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646920" y="822960"/>
            <a:ext cx="41148" cy="5120640"/>
          </a:xfrm>
          <a:prstGeom prst="rect">
            <a:avLst/>
          </a:prstGeom>
          <a:solidFill>
            <a:srgbClr val="C9A15A"/>
          </a:solidFill>
          <a:ln/>
        </p:spPr>
      </p:sp>
      <p:sp>
        <p:nvSpPr>
          <p:cNvPr id="9" name="Shape 7"/>
          <p:cNvSpPr/>
          <p:nvPr/>
        </p:nvSpPr>
        <p:spPr>
          <a:xfrm>
            <a:off x="9646920" y="822960"/>
            <a:ext cx="1828800" cy="41148"/>
          </a:xfrm>
          <a:prstGeom prst="rect">
            <a:avLst/>
          </a:prstGeom>
          <a:solidFill>
            <a:srgbClr val="C9A15A"/>
          </a:solidFill>
          <a:ln/>
        </p:spPr>
      </p:sp>
      <p:sp>
        <p:nvSpPr>
          <p:cNvPr id="10" name="Shape 8"/>
          <p:cNvSpPr/>
          <p:nvPr/>
        </p:nvSpPr>
        <p:spPr>
          <a:xfrm>
            <a:off x="10881360" y="822960"/>
            <a:ext cx="41148" cy="1737360"/>
          </a:xfrm>
          <a:prstGeom prst="rect">
            <a:avLst/>
          </a:prstGeom>
          <a:solidFill>
            <a:srgbClr val="C9A15A"/>
          </a:solidFill>
          <a:ln/>
        </p:spPr>
      </p:sp>
      <p:sp>
        <p:nvSpPr>
          <p:cNvPr id="11" name="Shape 9"/>
          <p:cNvSpPr/>
          <p:nvPr/>
        </p:nvSpPr>
        <p:spPr>
          <a:xfrm>
            <a:off x="10744200" y="2514600"/>
            <a:ext cx="292608" cy="292608"/>
          </a:xfrm>
          <a:prstGeom prst="ellipse">
            <a:avLst/>
          </a:prstGeom>
          <a:ln w="19050">
            <a:solidFill>
              <a:srgbClr val="C9A15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8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—  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 construction deserves</a:t>
            </a:r>
            <a:endParaRPr lang="en-US" sz="32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great story.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630936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606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98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CURA TECH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926080"/>
            <a:ext cx="5669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 Tech is a construction company delivering quality residential and commercial projects. Like most builders, its work speaks through finished structures — but its story rarely reaches the customers deciding who to trust next.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4069080"/>
            <a:ext cx="5669280" cy="0"/>
          </a:xfrm>
          <a:prstGeom prst="line">
            <a:avLst/>
          </a:prstGeom>
          <a:noFill/>
          <a:ln w="12700">
            <a:solidFill>
              <a:srgbClr val="E4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251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98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DIGITAL PRESENCE MATTERS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4572000"/>
            <a:ext cx="5669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homeowners research online long before they call a builder. A strong digital presence is no longer optional — it is the first impression, the proof of quality, and often the deciding factor.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178040" y="2331720"/>
            <a:ext cx="4480560" cy="379476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1" name="Shape 9"/>
          <p:cNvSpPr/>
          <p:nvPr/>
        </p:nvSpPr>
        <p:spPr>
          <a:xfrm>
            <a:off x="7498080" y="2651760"/>
            <a:ext cx="566928" cy="566928"/>
          </a:xfrm>
          <a:prstGeom prst="ellipse">
            <a:avLst/>
          </a:prstGeom>
          <a:solidFill>
            <a:srgbClr val="C9A15A"/>
          </a:solidFill>
          <a:ln/>
        </p:spPr>
      </p:sp>
      <p:pic>
        <p:nvPicPr>
          <p:cNvPr id="12" name="Image 0" descr="icons/triangleExcla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5481" y="2799161"/>
            <a:ext cx="272125" cy="27212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229600" y="27249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498080" y="3337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8D5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construction companies lack: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498080" y="3822192"/>
            <a:ext cx="82296" cy="82296"/>
          </a:xfrm>
          <a:prstGeom prst="ellipse">
            <a:avLst/>
          </a:prstGeom>
          <a:solidFill>
            <a:srgbClr val="C9A15A"/>
          </a:solidFill>
          <a:ln/>
        </p:spPr>
      </p:sp>
      <p:sp>
        <p:nvSpPr>
          <p:cNvPr id="16" name="Text 13"/>
          <p:cNvSpPr/>
          <p:nvPr/>
        </p:nvSpPr>
        <p:spPr>
          <a:xfrm>
            <a:off x="7726680" y="369417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defined brand identity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7498080" y="4352544"/>
            <a:ext cx="82296" cy="82296"/>
          </a:xfrm>
          <a:prstGeom prst="ellipse">
            <a:avLst/>
          </a:prstGeom>
          <a:solidFill>
            <a:srgbClr val="C9A15A"/>
          </a:solidFill>
          <a:ln/>
        </p:spPr>
      </p:sp>
      <p:sp>
        <p:nvSpPr>
          <p:cNvPr id="18" name="Text 15"/>
          <p:cNvSpPr/>
          <p:nvPr/>
        </p:nvSpPr>
        <p:spPr>
          <a:xfrm>
            <a:off x="7726680" y="422452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storytelling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7498080" y="4882896"/>
            <a:ext cx="82296" cy="82296"/>
          </a:xfrm>
          <a:prstGeom prst="ellipse">
            <a:avLst/>
          </a:prstGeom>
          <a:solidFill>
            <a:srgbClr val="C9A15A"/>
          </a:solidFill>
          <a:ln/>
        </p:spPr>
      </p:sp>
      <p:sp>
        <p:nvSpPr>
          <p:cNvPr id="20" name="Text 17"/>
          <p:cNvSpPr/>
          <p:nvPr/>
        </p:nvSpPr>
        <p:spPr>
          <a:xfrm>
            <a:off x="7726680" y="4754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strong, active online presence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7498080" y="54864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9E9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projects that speak for themselves in quality, but stay invisible in the market.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 Tech  ·  Social Media &amp; Content Partnership Proposal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9902952" y="65471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 TECH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—  OUR VISION &amp; MISSION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7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contractor to category leader.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5120640" cy="35661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743200"/>
            <a:ext cx="685800" cy="685800"/>
          </a:xfrm>
          <a:prstGeom prst="ellipse">
            <a:avLst/>
          </a:prstGeom>
          <a:solidFill>
            <a:srgbClr val="C9A15A"/>
          </a:solidFill>
          <a:ln/>
        </p:spPr>
      </p:sp>
      <p:pic>
        <p:nvPicPr>
          <p:cNvPr id="6" name="Image 0" descr="icons/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" y="29215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6118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VISION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60120" y="4023360"/>
            <a:ext cx="4297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E4E1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transform Cura Tech into a premium, trusted construction brand — one that clients recognize, respect, and recommend before ever visiting a site.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172200" y="2331720"/>
            <a:ext cx="5120640" cy="35661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0" y="2743200"/>
            <a:ext cx="685800" cy="685800"/>
          </a:xfrm>
          <a:prstGeom prst="ellipse">
            <a:avLst/>
          </a:prstGeom>
          <a:solidFill>
            <a:srgbClr val="C9A15A"/>
          </a:solidFill>
          <a:ln/>
        </p:spPr>
      </p:sp>
      <p:pic>
        <p:nvPicPr>
          <p:cNvPr id="11" name="Image 1" descr="icons/bulls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988" y="292150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83680" y="36118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583680" y="4023360"/>
            <a:ext cx="4297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E4E1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grow that brand through storytelling, transparency, and high-quality visuals — turning every project into proof of craftsmanship and every post into a lead.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 Tech  ·  Social Media &amp; Content Partnership Proposal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9902952" y="65471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 TECH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8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—  OUR UNIQUE MARKETING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us different.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176272"/>
            <a:ext cx="548640" cy="548640"/>
          </a:xfrm>
          <a:prstGeom prst="ellipse">
            <a:avLst/>
          </a:prstGeom>
          <a:solidFill>
            <a:srgbClr val="C9A15A"/>
          </a:solidFill>
          <a:ln/>
        </p:spPr>
      </p:sp>
      <p:pic>
        <p:nvPicPr>
          <p:cNvPr id="6" name="Image 0" descr="icons/vide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318" y="2318918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834640"/>
            <a:ext cx="3008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Cinematic Video Content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4672" y="3218688"/>
            <a:ext cx="30083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Film-grade visuals that make every project feel premium.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5112" y="1920240"/>
            <a:ext cx="35204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81144" y="2176272"/>
            <a:ext cx="548640" cy="548640"/>
          </a:xfrm>
          <a:prstGeom prst="ellipse">
            <a:avLst/>
          </a:prstGeom>
          <a:solidFill>
            <a:srgbClr val="C9A15A"/>
          </a:solidFill>
          <a:ln/>
        </p:spPr>
      </p:sp>
      <p:pic>
        <p:nvPicPr>
          <p:cNvPr id="11" name="Image 1" descr="icons/dr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3790" y="2318918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81144" y="2834640"/>
            <a:ext cx="3008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Drone-Based Visuals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81144" y="3218688"/>
            <a:ext cx="30083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Aerial perspective that instantly signals scale and quality.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01584" y="1920240"/>
            <a:ext cx="35204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57616" y="2176272"/>
            <a:ext cx="548640" cy="548640"/>
          </a:xfrm>
          <a:prstGeom prst="ellipse">
            <a:avLst/>
          </a:prstGeom>
          <a:solidFill>
            <a:srgbClr val="C9A15A"/>
          </a:solidFill>
          <a:ln/>
        </p:spPr>
      </p:sp>
      <p:pic>
        <p:nvPicPr>
          <p:cNvPr id="16" name="Image 2" descr="icons/calend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0262" y="2318918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2834640"/>
            <a:ext cx="3008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Progress Documentation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57616" y="3218688"/>
            <a:ext cx="30083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Authentic, ongoing footage — not staged marketing.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4160520"/>
            <a:ext cx="35204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4416552"/>
            <a:ext cx="548640" cy="548640"/>
          </a:xfrm>
          <a:prstGeom prst="ellipse">
            <a:avLst/>
          </a:prstGeom>
          <a:solidFill>
            <a:srgbClr val="C9A15A"/>
          </a:solidFill>
          <a:ln/>
        </p:spPr>
      </p:sp>
      <p:pic>
        <p:nvPicPr>
          <p:cNvPr id="21" name="Image 3" descr="icons/gradC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318" y="4559198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5074920"/>
            <a:ext cx="3008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Educational, Trust-Building Content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04672" y="5458968"/>
            <a:ext cx="30083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that positions Cura Tech as the expert.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25112" y="4160520"/>
            <a:ext cx="35204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81144" y="4416552"/>
            <a:ext cx="548640" cy="548640"/>
          </a:xfrm>
          <a:prstGeom prst="ellipse">
            <a:avLst/>
          </a:prstGeom>
          <a:solidFill>
            <a:srgbClr val="C9A15A"/>
          </a:solidFill>
          <a:ln/>
        </p:spPr>
      </p:sp>
      <p:pic>
        <p:nvPicPr>
          <p:cNvPr id="26" name="Image 4" descr="icons/comment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3790" y="4559198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81144" y="5074920"/>
            <a:ext cx="3008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Customer-Focused Storytelling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81144" y="5458968"/>
            <a:ext cx="30083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story centers the client’s journey, not just the build.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 Tech  ·  Social Media &amp; Content Partnership Proposal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9902952" y="65471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 TECH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8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CONTENT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content pillars, one consistent brand.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57400"/>
            <a:ext cx="475488" cy="475488"/>
          </a:xfrm>
          <a:prstGeom prst="ellipse">
            <a:avLst/>
          </a:prstGeom>
          <a:solidFill>
            <a:srgbClr val="C9A15A"/>
          </a:solidFill>
          <a:ln/>
        </p:spPr>
      </p:sp>
      <p:pic>
        <p:nvPicPr>
          <p:cNvPr id="6" name="Image 0" descr="icons/dr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867" y="2181027"/>
            <a:ext cx="228234" cy="2282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08176" y="202996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+ Ground Cinematic Videos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2724912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Sweeping aerial shots paired with grounded, detailed footage.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25112" y="1828800"/>
            <a:ext cx="35204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3712" y="2057400"/>
            <a:ext cx="475488" cy="475488"/>
          </a:xfrm>
          <a:prstGeom prst="ellipse">
            <a:avLst/>
          </a:prstGeom>
          <a:solidFill>
            <a:srgbClr val="C9A15A"/>
          </a:solidFill>
          <a:ln/>
        </p:spPr>
      </p:sp>
      <p:pic>
        <p:nvPicPr>
          <p:cNvPr id="11" name="Image 1" descr="icons/imag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339" y="2181027"/>
            <a:ext cx="228234" cy="22823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84648" y="202996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 After Transformations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553712" y="2724912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proof of impact that stops the scroll.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101584" y="1828800"/>
            <a:ext cx="35204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30184" y="2057400"/>
            <a:ext cx="475488" cy="475488"/>
          </a:xfrm>
          <a:prstGeom prst="ellipse">
            <a:avLst/>
          </a:prstGeom>
          <a:solidFill>
            <a:srgbClr val="C9A15A"/>
          </a:solidFill>
          <a:ln/>
        </p:spPr>
      </p:sp>
      <p:pic>
        <p:nvPicPr>
          <p:cNvPr id="16" name="Image 2" descr="icons/calend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811" y="2181027"/>
            <a:ext cx="228234" cy="22823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61120" y="202996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Progress Series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330184" y="2724912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updates that build anticipation and trust.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3776472"/>
            <a:ext cx="35204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005072"/>
            <a:ext cx="475488" cy="475488"/>
          </a:xfrm>
          <a:prstGeom prst="ellipse">
            <a:avLst/>
          </a:prstGeom>
          <a:solidFill>
            <a:srgbClr val="C9A15A"/>
          </a:solidFill>
          <a:ln/>
        </p:spPr>
      </p:sp>
      <p:pic>
        <p:nvPicPr>
          <p:cNvPr id="21" name="Image 3" descr="icons/gradC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867" y="4128699"/>
            <a:ext cx="228234" cy="22823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08176" y="39776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Content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77240" y="4672584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tips, common mistakes, materials explained.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325112" y="3776472"/>
            <a:ext cx="35204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53712" y="4005072"/>
            <a:ext cx="475488" cy="475488"/>
          </a:xfrm>
          <a:prstGeom prst="ellipse">
            <a:avLst/>
          </a:prstGeom>
          <a:solidFill>
            <a:srgbClr val="C9A15A"/>
          </a:solidFill>
          <a:ln/>
        </p:spPr>
      </p:sp>
      <p:pic>
        <p:nvPicPr>
          <p:cNvPr id="26" name="Image 4" descr="icons/comment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7339" y="4128699"/>
            <a:ext cx="228234" cy="22823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84648" y="39776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Testimonials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4553712" y="4672584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voices that validate quality and service.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101584" y="3776472"/>
            <a:ext cx="35204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30184" y="4005072"/>
            <a:ext cx="475488" cy="475488"/>
          </a:xfrm>
          <a:prstGeom prst="ellipse">
            <a:avLst/>
          </a:prstGeom>
          <a:solidFill>
            <a:srgbClr val="C9A15A"/>
          </a:solidFill>
          <a:ln/>
        </p:spPr>
      </p:sp>
      <p:pic>
        <p:nvPicPr>
          <p:cNvPr id="31" name="Image 5" descr="icons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3811" y="4128699"/>
            <a:ext cx="228234" cy="22823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61120" y="39776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Showcase Videos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8330184" y="4672584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Polished final reveals for flagship projects.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 Tech  ·  Social Media &amp; Content Partnership Proposal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9902952" y="65471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 TECH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CONTENT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consistent, always-on posting rhythm.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514600" cy="292608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40180" y="2514600"/>
            <a:ext cx="731520" cy="731520"/>
          </a:xfrm>
          <a:prstGeom prst="ellipse">
            <a:avLst/>
          </a:prstGeom>
          <a:solidFill>
            <a:srgbClr val="C9A15A"/>
          </a:solidFill>
          <a:ln/>
        </p:spPr>
      </p:sp>
      <p:pic>
        <p:nvPicPr>
          <p:cNvPr id="6" name="Image 0" descr="icons/vide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0375" y="270479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5204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4–5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40080" y="408736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E9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week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40080" y="44805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2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19272" y="2148840"/>
            <a:ext cx="2514600" cy="292608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10812" y="2514600"/>
            <a:ext cx="731520" cy="731520"/>
          </a:xfrm>
          <a:prstGeom prst="ellipse">
            <a:avLst/>
          </a:prstGeom>
          <a:solidFill>
            <a:srgbClr val="C9A15A"/>
          </a:solidFill>
          <a:ln/>
        </p:spPr>
      </p:sp>
      <p:pic>
        <p:nvPicPr>
          <p:cNvPr id="12" name="Image 1" descr="icons/imag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1007" y="270479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10712" y="35204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3–4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3410712" y="408736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E9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week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3410712" y="44805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2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089904" y="2148840"/>
            <a:ext cx="2514600" cy="292608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981444" y="2514600"/>
            <a:ext cx="731520" cy="731520"/>
          </a:xfrm>
          <a:prstGeom prst="ellipse">
            <a:avLst/>
          </a:prstGeom>
          <a:solidFill>
            <a:srgbClr val="C9A15A"/>
          </a:solidFill>
          <a:ln/>
        </p:spPr>
      </p:sp>
      <p:pic>
        <p:nvPicPr>
          <p:cNvPr id="18" name="Image 2" descr="icons/bo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1639" y="2704795"/>
            <a:ext cx="351130" cy="35113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81344" y="35204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</a:t>
            </a:r>
            <a:endParaRPr lang="en-US" sz="3000" dirty="0"/>
          </a:p>
        </p:txBody>
      </p:sp>
      <p:sp>
        <p:nvSpPr>
          <p:cNvPr id="20" name="Text 15"/>
          <p:cNvSpPr/>
          <p:nvPr/>
        </p:nvSpPr>
        <p:spPr>
          <a:xfrm>
            <a:off x="6181344" y="408736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E9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181344" y="44805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2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8860536" y="2148840"/>
            <a:ext cx="2514600" cy="292608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752076" y="2514600"/>
            <a:ext cx="731520" cy="731520"/>
          </a:xfrm>
          <a:prstGeom prst="ellipse">
            <a:avLst/>
          </a:prstGeom>
          <a:solidFill>
            <a:srgbClr val="C9A15A"/>
          </a:solidFill>
          <a:ln/>
        </p:spPr>
      </p:sp>
      <p:pic>
        <p:nvPicPr>
          <p:cNvPr id="24" name="Image 3" descr="icons/st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2271" y="2704795"/>
            <a:ext cx="351130" cy="35113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951976" y="35204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26" name="Text 20"/>
          <p:cNvSpPr/>
          <p:nvPr/>
        </p:nvSpPr>
        <p:spPr>
          <a:xfrm>
            <a:off x="8951976" y="408736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E9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month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8951976" y="44805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2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Videos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548640" y="53492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C9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format is built to work together — Reels and Stories drive reach, Posts build the feed as a portfolio, and Premium Videos anchor flagship launches.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 Tech  ·  Social Media &amp; Content Partnership Proposal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9902952" y="65471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 TECH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8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—  LEAD GENERATION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content into customers.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103120"/>
            <a:ext cx="2331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1620" y="2304288"/>
            <a:ext cx="640080" cy="640080"/>
          </a:xfrm>
          <a:prstGeom prst="ellipse">
            <a:avLst/>
          </a:prstGeom>
          <a:solidFill>
            <a:srgbClr val="C9A15A"/>
          </a:solidFill>
          <a:ln/>
        </p:spPr>
      </p:sp>
      <p:pic>
        <p:nvPicPr>
          <p:cNvPr id="6" name="Image 0" descr="icons/vide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8041" y="247070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" y="215798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8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303580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Content</a:t>
            </a:r>
            <a:endParaRPr lang="en-US" sz="1200" dirty="0"/>
          </a:p>
        </p:txBody>
      </p:sp>
      <p:pic>
        <p:nvPicPr>
          <p:cNvPr id="9" name="Image 1" descr="icons/arrow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2665476"/>
            <a:ext cx="292608" cy="29260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01568" y="2103120"/>
            <a:ext cx="2331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247388" y="2304288"/>
            <a:ext cx="640080" cy="640080"/>
          </a:xfrm>
          <a:prstGeom prst="ellipse">
            <a:avLst/>
          </a:prstGeom>
          <a:solidFill>
            <a:srgbClr val="C9A15A"/>
          </a:solidFill>
          <a:ln/>
        </p:spPr>
      </p:sp>
      <p:pic>
        <p:nvPicPr>
          <p:cNvPr id="12" name="Image 2" descr="icons/whatsap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3809" y="2470709"/>
            <a:ext cx="307238" cy="30723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474720" y="215798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8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3493008" y="303580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/ WhatsApp</a:t>
            </a:r>
            <a:endParaRPr lang="en-US" sz="1200" dirty="0"/>
          </a:p>
        </p:txBody>
      </p:sp>
      <p:pic>
        <p:nvPicPr>
          <p:cNvPr id="15" name="Image 3" descr="icons/arrow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008" y="2665476"/>
            <a:ext cx="292608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117336" y="2103120"/>
            <a:ext cx="2331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6963156" y="2304288"/>
            <a:ext cx="640080" cy="640080"/>
          </a:xfrm>
          <a:prstGeom prst="ellipse">
            <a:avLst/>
          </a:prstGeom>
          <a:solidFill>
            <a:srgbClr val="C9A15A"/>
          </a:solidFill>
          <a:ln/>
        </p:spPr>
      </p:sp>
      <p:pic>
        <p:nvPicPr>
          <p:cNvPr id="18" name="Image 4" descr="icons/comment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9577" y="2470709"/>
            <a:ext cx="307238" cy="30723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190488" y="215798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8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6208776" y="303580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</a:t>
            </a:r>
            <a:endParaRPr lang="en-US" sz="1200" dirty="0"/>
          </a:p>
        </p:txBody>
      </p:sp>
      <p:pic>
        <p:nvPicPr>
          <p:cNvPr id="21" name="Image 5" descr="icons/arrowR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4776" y="2665476"/>
            <a:ext cx="292608" cy="292608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8833104" y="2103120"/>
            <a:ext cx="2331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9678924" y="2304288"/>
            <a:ext cx="640080" cy="640080"/>
          </a:xfrm>
          <a:prstGeom prst="ellipse">
            <a:avLst/>
          </a:prstGeom>
          <a:solidFill>
            <a:srgbClr val="C9A15A"/>
          </a:solidFill>
          <a:ln/>
        </p:spPr>
      </p:sp>
      <p:pic>
        <p:nvPicPr>
          <p:cNvPr id="24" name="Image 6" descr="icons/checkCirc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45345" y="2470709"/>
            <a:ext cx="307238" cy="30723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8906256" y="215798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8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17"/>
          <p:cNvSpPr/>
          <p:nvPr/>
        </p:nvSpPr>
        <p:spPr>
          <a:xfrm>
            <a:off x="8924544" y="303580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1200" dirty="0"/>
          </a:p>
        </p:txBody>
      </p:sp>
      <p:sp>
        <p:nvSpPr>
          <p:cNvPr id="27" name="Shape 18"/>
          <p:cNvSpPr/>
          <p:nvPr/>
        </p:nvSpPr>
        <p:spPr>
          <a:xfrm>
            <a:off x="548640" y="3977640"/>
            <a:ext cx="35204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  <a:prstDash val="solid"/>
          </a:ln>
        </p:spPr>
      </p:sp>
      <p:sp>
        <p:nvSpPr>
          <p:cNvPr id="28" name="Shape 19"/>
          <p:cNvSpPr/>
          <p:nvPr/>
        </p:nvSpPr>
        <p:spPr>
          <a:xfrm>
            <a:off x="777240" y="4206240"/>
            <a:ext cx="457200" cy="457200"/>
          </a:xfrm>
          <a:prstGeom prst="ellipse">
            <a:avLst/>
          </a:prstGeom>
          <a:solidFill>
            <a:srgbClr val="C9A15A"/>
          </a:solidFill>
          <a:ln/>
        </p:spPr>
      </p:sp>
      <p:pic>
        <p:nvPicPr>
          <p:cNvPr id="29" name="Image 7" descr="icons/bol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6112" y="4325112"/>
            <a:ext cx="219456" cy="219456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777240" y="48006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Calls-to-Action</a:t>
            </a:r>
            <a:endParaRPr lang="en-US" sz="1200" dirty="0"/>
          </a:p>
        </p:txBody>
      </p:sp>
      <p:sp>
        <p:nvSpPr>
          <p:cNvPr id="31" name="Text 21"/>
          <p:cNvSpPr/>
          <p:nvPr/>
        </p:nvSpPr>
        <p:spPr>
          <a:xfrm>
            <a:off x="777240" y="514807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post drives a clear next step — message, call, or visit.</a:t>
            </a:r>
            <a:endParaRPr lang="en-US" sz="1000" dirty="0"/>
          </a:p>
        </p:txBody>
      </p:sp>
      <p:sp>
        <p:nvSpPr>
          <p:cNvPr id="32" name="Shape 22"/>
          <p:cNvSpPr/>
          <p:nvPr/>
        </p:nvSpPr>
        <p:spPr>
          <a:xfrm>
            <a:off x="4325112" y="3977640"/>
            <a:ext cx="35204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  <a:prstDash val="solid"/>
          </a:ln>
        </p:spPr>
      </p:sp>
      <p:sp>
        <p:nvSpPr>
          <p:cNvPr id="33" name="Shape 23"/>
          <p:cNvSpPr/>
          <p:nvPr/>
        </p:nvSpPr>
        <p:spPr>
          <a:xfrm>
            <a:off x="4553712" y="4206240"/>
            <a:ext cx="457200" cy="457200"/>
          </a:xfrm>
          <a:prstGeom prst="ellipse">
            <a:avLst/>
          </a:prstGeom>
          <a:solidFill>
            <a:srgbClr val="C9A15A"/>
          </a:solidFill>
          <a:ln/>
        </p:spPr>
      </p:sp>
      <p:pic>
        <p:nvPicPr>
          <p:cNvPr id="34" name="Image 8" descr="icons/mapMarke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72584" y="4325112"/>
            <a:ext cx="219456" cy="219456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4553712" y="48006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Targeting</a:t>
            </a:r>
            <a:endParaRPr lang="en-US" sz="1200" dirty="0"/>
          </a:p>
        </p:txBody>
      </p:sp>
      <p:sp>
        <p:nvSpPr>
          <p:cNvPr id="36" name="Text 25"/>
          <p:cNvSpPr/>
          <p:nvPr/>
        </p:nvSpPr>
        <p:spPr>
          <a:xfrm>
            <a:off x="4553712" y="514807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reach across Assam and Guwahati, where buyers actually are.</a:t>
            </a:r>
            <a:endParaRPr lang="en-US" sz="1000" dirty="0"/>
          </a:p>
        </p:txBody>
      </p:sp>
      <p:sp>
        <p:nvSpPr>
          <p:cNvPr id="37" name="Shape 26"/>
          <p:cNvSpPr/>
          <p:nvPr/>
        </p:nvSpPr>
        <p:spPr>
          <a:xfrm>
            <a:off x="8101584" y="3977640"/>
            <a:ext cx="35204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  <a:prstDash val="solid"/>
          </a:ln>
        </p:spPr>
      </p:sp>
      <p:sp>
        <p:nvSpPr>
          <p:cNvPr id="38" name="Shape 27"/>
          <p:cNvSpPr/>
          <p:nvPr/>
        </p:nvSpPr>
        <p:spPr>
          <a:xfrm>
            <a:off x="8330184" y="4206240"/>
            <a:ext cx="457200" cy="457200"/>
          </a:xfrm>
          <a:prstGeom prst="ellipse">
            <a:avLst/>
          </a:prstGeom>
          <a:solidFill>
            <a:srgbClr val="C9A15A"/>
          </a:solidFill>
          <a:ln/>
        </p:spPr>
      </p:sp>
      <p:pic>
        <p:nvPicPr>
          <p:cNvPr id="39" name="Image 9" descr="icons/a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49056" y="4325112"/>
            <a:ext cx="219456" cy="219456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8330184" y="48006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Ads with Video Content</a:t>
            </a:r>
            <a:endParaRPr lang="en-US" sz="1200" dirty="0"/>
          </a:p>
        </p:txBody>
      </p:sp>
      <p:sp>
        <p:nvSpPr>
          <p:cNvPr id="41" name="Text 29"/>
          <p:cNvSpPr/>
          <p:nvPr/>
        </p:nvSpPr>
        <p:spPr>
          <a:xfrm>
            <a:off x="8330184" y="514807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High-performing organic content repurposed into targeted ad campaigns.</a:t>
            </a:r>
            <a:endParaRPr lang="en-US" sz="1000" dirty="0"/>
          </a:p>
        </p:txBody>
      </p:sp>
      <p:sp>
        <p:nvSpPr>
          <p:cNvPr id="42" name="Text 30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 Tech  ·  Social Media &amp; Content Partnership Proposal</a:t>
            </a:r>
            <a:endParaRPr lang="en-US" sz="900" dirty="0"/>
          </a:p>
        </p:txBody>
      </p:sp>
      <p:sp>
        <p:nvSpPr>
          <p:cNvPr id="43" name="Text 31"/>
          <p:cNvSpPr/>
          <p:nvPr/>
        </p:nvSpPr>
        <p:spPr>
          <a:xfrm>
            <a:off x="9902952" y="65471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 TECH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—  ROLE OF DRONE IN MARKETING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7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Elevation builds perception.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141732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38528"/>
            <a:ext cx="822960" cy="822960"/>
          </a:xfrm>
          <a:prstGeom prst="ellipse">
            <a:avLst/>
          </a:prstGeom>
          <a:solidFill>
            <a:srgbClr val="C9A15A"/>
          </a:solidFill>
          <a:ln/>
        </p:spPr>
      </p:sp>
      <p:pic>
        <p:nvPicPr>
          <p:cNvPr id="6" name="Image 0" descr="icons/dr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2152498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847088"/>
            <a:ext cx="3703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4E1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Aerial footage signals scale, ambition, and professionalism instantly — building trust and a premium perception before a client ever visits the site.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3337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DRONE SHOTS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" y="3785616"/>
            <a:ext cx="73152" cy="73152"/>
          </a:xfrm>
          <a:prstGeom prst="ellipse">
            <a:avLst/>
          </a:prstGeom>
          <a:solidFill>
            <a:srgbClr val="C9A15A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3657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overview shots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" y="4242816"/>
            <a:ext cx="73152" cy="73152"/>
          </a:xfrm>
          <a:prstGeom prst="ellipse">
            <a:avLst/>
          </a:prstGeom>
          <a:solidFill>
            <a:srgbClr val="C9A15A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4114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Cinematic flythroughs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4360" y="4700016"/>
            <a:ext cx="73152" cy="73152"/>
          </a:xfrm>
          <a:prstGeom prst="ellipse">
            <a:avLst/>
          </a:prstGeom>
          <a:solidFill>
            <a:srgbClr val="C9A15A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45720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tracking angles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94360" y="5157216"/>
            <a:ext cx="73152" cy="73152"/>
          </a:xfrm>
          <a:prstGeom prst="ellipse">
            <a:avLst/>
          </a:prstGeom>
          <a:solidFill>
            <a:srgbClr val="C9A15A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5029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showcase reveals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035040" y="1691640"/>
            <a:ext cx="5623560" cy="42062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09360" y="1920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DRIVES RESULTS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309360" y="2377440"/>
            <a:ext cx="566928" cy="566928"/>
          </a:xfrm>
          <a:prstGeom prst="ellipse">
            <a:avLst/>
          </a:prstGeom>
          <a:solidFill>
            <a:srgbClr val="C9A15A"/>
          </a:solidFill>
          <a:ln/>
        </p:spPr>
      </p:sp>
      <p:pic>
        <p:nvPicPr>
          <p:cNvPr id="20" name="Image 1" descr="icons/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6761" y="2524841"/>
            <a:ext cx="272125" cy="27212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040880" y="2395728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&amp; Organic Ads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7040880" y="2706624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9E9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Aerial content consistently outperforms standard visuals in engagement.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309360" y="3429000"/>
            <a:ext cx="566928" cy="566928"/>
          </a:xfrm>
          <a:prstGeom prst="ellipse">
            <a:avLst/>
          </a:prstGeom>
          <a:solidFill>
            <a:srgbClr val="C9A15A"/>
          </a:solidFill>
          <a:ln/>
        </p:spPr>
      </p:sp>
      <p:pic>
        <p:nvPicPr>
          <p:cNvPr id="24" name="Image 2" descr="icons/userTi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6761" y="3576401"/>
            <a:ext cx="272125" cy="272125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040880" y="3447288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Presentations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7040880" y="3758184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9E9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Elevates pitch meetings and proposal decks with real project scale.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309360" y="4480560"/>
            <a:ext cx="566928" cy="566928"/>
          </a:xfrm>
          <a:prstGeom prst="ellipse">
            <a:avLst/>
          </a:prstGeom>
          <a:solidFill>
            <a:srgbClr val="C9A15A"/>
          </a:solidFill>
          <a:ln/>
        </p:spPr>
      </p:sp>
      <p:pic>
        <p:nvPicPr>
          <p:cNvPr id="28" name="Image 3" descr="icons/check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6761" y="4627961"/>
            <a:ext cx="272125" cy="272125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040880" y="4498848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Conversion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7040880" y="4809744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9E9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Reinforces credibility at the exact moment a decision is being made.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 Tech  ·  Social Media &amp; Content Partnership Proposal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9902952" y="65471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 TECH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8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—  TEAM STRUCTURE &amp; ROLES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team behind the build story.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74520"/>
            <a:ext cx="3520440" cy="82296"/>
          </a:xfrm>
          <a:prstGeom prst="rect">
            <a:avLst/>
          </a:prstGeom>
          <a:solidFill>
            <a:srgbClr val="C9A15A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194560"/>
            <a:ext cx="777240" cy="777240"/>
          </a:xfrm>
          <a:prstGeom prst="ellipse">
            <a:avLst/>
          </a:prstGeom>
          <a:solidFill>
            <a:srgbClr val="1A1A1A"/>
          </a:solidFill>
          <a:ln/>
        </p:spPr>
      </p:sp>
      <p:pic>
        <p:nvPicPr>
          <p:cNvPr id="7" name="Image 0" descr="icons/lightbul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" y="2396642"/>
            <a:ext cx="373075" cy="3730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13639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 Marak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3483864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98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IDEAS &amp; CONTENT PLANNING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2960" y="3849624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creative direction, storytelling, captions, and overall content planning across every platform.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25112" y="1874520"/>
            <a:ext cx="35204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25112" y="1874520"/>
            <a:ext cx="3520440" cy="82296"/>
          </a:xfrm>
          <a:prstGeom prst="rect">
            <a:avLst/>
          </a:prstGeom>
          <a:solidFill>
            <a:srgbClr val="C9A15A"/>
          </a:solidFill>
          <a:ln/>
        </p:spPr>
      </p:sp>
      <p:sp>
        <p:nvSpPr>
          <p:cNvPr id="13" name="Shape 10"/>
          <p:cNvSpPr/>
          <p:nvPr/>
        </p:nvSpPr>
        <p:spPr>
          <a:xfrm>
            <a:off x="4599432" y="2194560"/>
            <a:ext cx="777240" cy="777240"/>
          </a:xfrm>
          <a:prstGeom prst="ellipse">
            <a:avLst/>
          </a:prstGeom>
          <a:solidFill>
            <a:srgbClr val="1A1A1A"/>
          </a:solidFill>
          <a:ln/>
        </p:spPr>
      </p:sp>
      <p:pic>
        <p:nvPicPr>
          <p:cNvPr id="14" name="Image 1" descr="icons/chartLin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1514" y="2396642"/>
            <a:ext cx="373075" cy="37307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99432" y="313639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Avanish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599432" y="3483864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98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PLANNER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599432" y="3849624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marketing strategy, paid ads, performance analytics, and customer targeting.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101584" y="1874520"/>
            <a:ext cx="35204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101584" y="1874520"/>
            <a:ext cx="3520440" cy="82296"/>
          </a:xfrm>
          <a:prstGeom prst="rect">
            <a:avLst/>
          </a:prstGeom>
          <a:solidFill>
            <a:srgbClr val="C9A15A"/>
          </a:solidFill>
          <a:ln/>
        </p:spPr>
      </p:sp>
      <p:sp>
        <p:nvSpPr>
          <p:cNvPr id="20" name="Shape 16"/>
          <p:cNvSpPr/>
          <p:nvPr/>
        </p:nvSpPr>
        <p:spPr>
          <a:xfrm>
            <a:off x="8375904" y="2194560"/>
            <a:ext cx="777240" cy="777240"/>
          </a:xfrm>
          <a:prstGeom prst="ellipse">
            <a:avLst/>
          </a:prstGeom>
          <a:solidFill>
            <a:srgbClr val="1A1A1A"/>
          </a:solidFill>
          <a:ln/>
        </p:spPr>
      </p:sp>
      <p:pic>
        <p:nvPicPr>
          <p:cNvPr id="21" name="Image 2" descr="icons/camera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986" y="2396642"/>
            <a:ext cx="373075" cy="37307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75904" y="313639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Aftab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8375904" y="3483864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98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PHOTOGRAPHER, VIDEOGRAPHER &amp; DRONE OPERATOR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8375904" y="3849624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aerial and ground footage, site progress documentation, and premium visuals.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 Tech  ·  Social Media &amp; Content Partnership Proposal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9902952" y="65471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 TECH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8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—  TEAM STRUCTURE &amp; ROLES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power behind the scenes.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74520"/>
            <a:ext cx="3520440" cy="82296"/>
          </a:xfrm>
          <a:prstGeom prst="rect">
            <a:avLst/>
          </a:prstGeom>
          <a:solidFill>
            <a:srgbClr val="C9A15A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194560"/>
            <a:ext cx="777240" cy="777240"/>
          </a:xfrm>
          <a:prstGeom prst="ellipse">
            <a:avLst/>
          </a:prstGeom>
          <a:solidFill>
            <a:srgbClr val="1A1A1A"/>
          </a:solidFill>
          <a:ln/>
        </p:spPr>
      </p:sp>
      <p:pic>
        <p:nvPicPr>
          <p:cNvPr id="7" name="Image 0" descr="icons/cub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" y="2396642"/>
            <a:ext cx="373075" cy="3730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13639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Geetartho Gohain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3483864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98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EDITOR, GRAPHIC DESIGNER &amp; 3D SPECIALIST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2960" y="3849624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 cinematic videos and creates motion graphics and 3D house preview visuals.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25112" y="1874520"/>
            <a:ext cx="35204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25112" y="1874520"/>
            <a:ext cx="3520440" cy="82296"/>
          </a:xfrm>
          <a:prstGeom prst="rect">
            <a:avLst/>
          </a:prstGeom>
          <a:solidFill>
            <a:srgbClr val="C9A15A"/>
          </a:solidFill>
          <a:ln/>
        </p:spPr>
      </p:sp>
      <p:sp>
        <p:nvSpPr>
          <p:cNvPr id="13" name="Shape 10"/>
          <p:cNvSpPr/>
          <p:nvPr/>
        </p:nvSpPr>
        <p:spPr>
          <a:xfrm>
            <a:off x="4599432" y="2194560"/>
            <a:ext cx="777240" cy="777240"/>
          </a:xfrm>
          <a:prstGeom prst="ellipse">
            <a:avLst/>
          </a:prstGeom>
          <a:solidFill>
            <a:srgbClr val="1A1A1A"/>
          </a:solidFill>
          <a:ln/>
        </p:spPr>
      </p:sp>
      <p:pic>
        <p:nvPicPr>
          <p:cNvPr id="14" name="Image 1" descr="icons/laptopCod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1514" y="2396642"/>
            <a:ext cx="373075" cy="37307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99432" y="313639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Vivek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599432" y="3483864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98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&amp; SOFTWARE SPECIALIST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599432" y="3849624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editing workflows, applies AI tools, and ensures fast, consistent content turnaround.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101584" y="1874520"/>
            <a:ext cx="3520440" cy="32461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9" name="Shape 15"/>
          <p:cNvSpPr/>
          <p:nvPr/>
        </p:nvSpPr>
        <p:spPr>
          <a:xfrm>
            <a:off x="8375904" y="2194560"/>
            <a:ext cx="777240" cy="777240"/>
          </a:xfrm>
          <a:prstGeom prst="ellipse">
            <a:avLst/>
          </a:prstGeom>
          <a:solidFill>
            <a:srgbClr val="C9A15A"/>
          </a:solidFill>
          <a:ln/>
        </p:spPr>
      </p:sp>
      <p:pic>
        <p:nvPicPr>
          <p:cNvPr id="20" name="Image 2" descr="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986" y="2396642"/>
            <a:ext cx="373075" cy="37307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75904" y="315468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F7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SPECIALISTS.</a:t>
            </a:r>
            <a:endParaRPr lang="en-US" sz="18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F7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BRAND.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8375904" y="397764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9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team covering strategy, storytelling, production, and delivery — end to end.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 Tech  ·  Social Media &amp; Content Partnership Proposal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9902952" y="65471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 TECH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—  UNIQUE IDEAS &amp; COMPETITIVE ADVANTAGE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Ideas competitors aren’t using — yet.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19659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130552"/>
            <a:ext cx="530352" cy="530352"/>
          </a:xfrm>
          <a:prstGeom prst="ellipse">
            <a:avLst/>
          </a:prstGeom>
          <a:solidFill>
            <a:srgbClr val="C9A15A"/>
          </a:solidFill>
          <a:ln/>
        </p:spPr>
      </p:sp>
      <p:pic>
        <p:nvPicPr>
          <p:cNvPr id="6" name="Image 0" descr="icons/cu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564" y="2268444"/>
            <a:ext cx="254569" cy="2545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770632"/>
            <a:ext cx="3008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2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+ 3D House Preview Videos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04672" y="3246120"/>
            <a:ext cx="3008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E9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real aerial footage with 3D previews of the finished home.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25112" y="1874520"/>
            <a:ext cx="3520440" cy="19659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81144" y="2130552"/>
            <a:ext cx="530352" cy="530352"/>
          </a:xfrm>
          <a:prstGeom prst="ellipse">
            <a:avLst/>
          </a:prstGeom>
          <a:solidFill>
            <a:srgbClr val="C9A15A"/>
          </a:solidFill>
          <a:ln/>
        </p:spPr>
      </p:sp>
      <p:pic>
        <p:nvPicPr>
          <p:cNvPr id="11" name="Image 1" descr="icons/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036" y="2268444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81144" y="2770632"/>
            <a:ext cx="3008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2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“Dream Home Journey” Series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81144" y="3246120"/>
            <a:ext cx="3008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E9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serialized story following a client’s build from ground to key handover.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101584" y="1874520"/>
            <a:ext cx="3520440" cy="19659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7616" y="2130552"/>
            <a:ext cx="530352" cy="530352"/>
          </a:xfrm>
          <a:prstGeom prst="ellipse">
            <a:avLst/>
          </a:prstGeom>
          <a:solidFill>
            <a:srgbClr val="C9A15A"/>
          </a:solidFill>
          <a:ln/>
        </p:spPr>
      </p:sp>
      <p:pic>
        <p:nvPicPr>
          <p:cNvPr id="16" name="Image 2" descr="icons/vide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5508" y="2268444"/>
            <a:ext cx="254569" cy="25456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2770632"/>
            <a:ext cx="3008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2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Site Walkthroughs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357616" y="3246120"/>
            <a:ext cx="3008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E9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video sessions that build transparency and immediacy.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4096512"/>
            <a:ext cx="3520440" cy="19659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4352544"/>
            <a:ext cx="530352" cy="530352"/>
          </a:xfrm>
          <a:prstGeom prst="ellipse">
            <a:avLst/>
          </a:prstGeom>
          <a:solidFill>
            <a:srgbClr val="C9A15A"/>
          </a:solidFill>
          <a:ln/>
        </p:spPr>
      </p:sp>
      <p:pic>
        <p:nvPicPr>
          <p:cNvPr id="21" name="Image 3" descr="icons/handshak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564" y="4490436"/>
            <a:ext cx="254569" cy="25456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992624"/>
            <a:ext cx="3008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2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Collaborations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804672" y="5468112"/>
            <a:ext cx="3008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E9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voices that extend reach and lend third-party credibility.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325112" y="4096512"/>
            <a:ext cx="3520440" cy="19659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81144" y="4352544"/>
            <a:ext cx="530352" cy="530352"/>
          </a:xfrm>
          <a:prstGeom prst="ellipse">
            <a:avLst/>
          </a:prstGeom>
          <a:solidFill>
            <a:srgbClr val="C9A15A"/>
          </a:solidFill>
          <a:ln/>
        </p:spPr>
      </p:sp>
      <p:pic>
        <p:nvPicPr>
          <p:cNvPr id="26" name="Image 4" descr="icons/gradCa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9036" y="4490436"/>
            <a:ext cx="254569" cy="25456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81144" y="4992624"/>
            <a:ext cx="3008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2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“Ask a Builder” Educational Series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581144" y="5468112"/>
            <a:ext cx="3008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E9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Q&amp;A content that positions Cura Tech as the trusted expert.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 Tech  ·  Social Media &amp; Content Partnership Proposal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9902952" y="65471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 TECH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8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—  BENEFITS TO CURA TECH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partnership delivers.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0116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34440" y="2286000"/>
            <a:ext cx="640080" cy="640080"/>
          </a:xfrm>
          <a:prstGeom prst="ellipse">
            <a:avLst/>
          </a:prstGeom>
          <a:solidFill>
            <a:srgbClr val="C9A15A"/>
          </a:solidFill>
          <a:ln/>
        </p:spPr>
      </p:sp>
      <p:pic>
        <p:nvPicPr>
          <p:cNvPr id="6" name="Image 0" descr="icons/chart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0861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3108960"/>
            <a:ext cx="16824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Customer Inquiries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13232" y="3977640"/>
            <a:ext cx="16824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steady, growing stream of qualified leads.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79776" y="1965960"/>
            <a:ext cx="20116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65576" y="2286000"/>
            <a:ext cx="640080" cy="640080"/>
          </a:xfrm>
          <a:prstGeom prst="ellipse">
            <a:avLst/>
          </a:prstGeom>
          <a:solidFill>
            <a:srgbClr val="C9A15A"/>
          </a:solidFill>
          <a:ln/>
        </p:spPr>
      </p:sp>
      <p:pic>
        <p:nvPicPr>
          <p:cNvPr id="11" name="Image 1" descr="icons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1997" y="245242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44368" y="3108960"/>
            <a:ext cx="16824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Brand Image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944368" y="3977640"/>
            <a:ext cx="16824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consistent, premium identity across every platform.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010912" y="1965960"/>
            <a:ext cx="20116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696712" y="2286000"/>
            <a:ext cx="640080" cy="640080"/>
          </a:xfrm>
          <a:prstGeom prst="ellipse">
            <a:avLst/>
          </a:prstGeom>
          <a:solidFill>
            <a:srgbClr val="C9A15A"/>
          </a:solidFill>
          <a:ln/>
        </p:spPr>
      </p:sp>
      <p:pic>
        <p:nvPicPr>
          <p:cNvPr id="16" name="Image 2" descr="icons/check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3133" y="245242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75504" y="3108960"/>
            <a:ext cx="16824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Trust &amp; Credibility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175504" y="3977640"/>
            <a:ext cx="16824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real content that clients believe.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7242048" y="1965960"/>
            <a:ext cx="20116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927848" y="2286000"/>
            <a:ext cx="640080" cy="640080"/>
          </a:xfrm>
          <a:prstGeom prst="ellipse">
            <a:avLst/>
          </a:prstGeom>
          <a:solidFill>
            <a:srgbClr val="C9A15A"/>
          </a:solidFill>
          <a:ln/>
        </p:spPr>
      </p:sp>
      <p:pic>
        <p:nvPicPr>
          <p:cNvPr id="21" name="Image 3" descr="icons/bullsey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4269" y="245242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3108960"/>
            <a:ext cx="16824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Conversion Rate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406640" y="3977640"/>
            <a:ext cx="16824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funnel built to turn attention into signed projects.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9473184" y="1965960"/>
            <a:ext cx="20116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1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158984" y="2286000"/>
            <a:ext cx="640080" cy="640080"/>
          </a:xfrm>
          <a:prstGeom prst="ellipse">
            <a:avLst/>
          </a:prstGeom>
          <a:solidFill>
            <a:srgbClr val="C9A15A"/>
          </a:solidFill>
          <a:ln/>
        </p:spPr>
      </p:sp>
      <p:pic>
        <p:nvPicPr>
          <p:cNvPr id="26" name="Image 4" descr="icons/troph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5405" y="2452421"/>
            <a:ext cx="307238" cy="30723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37776" y="3108960"/>
            <a:ext cx="16824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Market Dominance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9637776" y="3977640"/>
            <a:ext cx="16824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visible, most trusted builder in the region.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 Tech  ·  Social Media &amp; Content Partnership Proposal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9902952" y="65471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 TECH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—  WORKFLOW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repeatable system, not a one-off campaign.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920240" cy="17373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24505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161288" y="2697480"/>
            <a:ext cx="694944" cy="694944"/>
          </a:xfrm>
          <a:prstGeom prst="ellipse">
            <a:avLst/>
          </a:prstGeom>
          <a:solidFill>
            <a:srgbClr val="C9A15A"/>
          </a:solidFill>
          <a:ln/>
        </p:spPr>
      </p:sp>
      <p:pic>
        <p:nvPicPr>
          <p:cNvPr id="7" name="Image 0" descr="icons/light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1973" y="2878165"/>
            <a:ext cx="333573" cy="3335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3611880"/>
            <a:ext cx="1773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2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200" dirty="0"/>
          </a:p>
        </p:txBody>
      </p:sp>
      <p:pic>
        <p:nvPicPr>
          <p:cNvPr id="9" name="Image 1" descr="icons/arrowRigh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168" y="3127248"/>
            <a:ext cx="219456" cy="2377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724912" y="2377440"/>
            <a:ext cx="1920240" cy="17373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834640" y="24505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337560" y="2697480"/>
            <a:ext cx="694944" cy="694944"/>
          </a:xfrm>
          <a:prstGeom prst="ellipse">
            <a:avLst/>
          </a:prstGeom>
          <a:solidFill>
            <a:srgbClr val="C9A15A"/>
          </a:solidFill>
          <a:ln/>
        </p:spPr>
      </p:sp>
      <p:pic>
        <p:nvPicPr>
          <p:cNvPr id="13" name="Image 2" descr="icons/camer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8245" y="2878165"/>
            <a:ext cx="333573" cy="33357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798064" y="3611880"/>
            <a:ext cx="1773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2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Shooting</a:t>
            </a:r>
            <a:endParaRPr lang="en-US" sz="1200" dirty="0"/>
          </a:p>
        </p:txBody>
      </p:sp>
      <p:pic>
        <p:nvPicPr>
          <p:cNvPr id="15" name="Image 3" descr="icons/arrowRigh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3127248"/>
            <a:ext cx="219456" cy="23774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901184" y="2377440"/>
            <a:ext cx="1920240" cy="17373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5010912" y="24505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5513832" y="2697480"/>
            <a:ext cx="694944" cy="694944"/>
          </a:xfrm>
          <a:prstGeom prst="ellipse">
            <a:avLst/>
          </a:prstGeom>
          <a:solidFill>
            <a:srgbClr val="C9A15A"/>
          </a:solidFill>
          <a:ln/>
        </p:spPr>
      </p:sp>
      <p:pic>
        <p:nvPicPr>
          <p:cNvPr id="19" name="Image 4" descr="icons/edi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4517" y="2878165"/>
            <a:ext cx="333573" cy="33357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974336" y="3611880"/>
            <a:ext cx="1773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2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</a:t>
            </a:r>
            <a:endParaRPr lang="en-US" sz="1200" dirty="0"/>
          </a:p>
        </p:txBody>
      </p:sp>
      <p:pic>
        <p:nvPicPr>
          <p:cNvPr id="21" name="Image 5" descr="icons/arrowRigh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9712" y="3127248"/>
            <a:ext cx="219456" cy="237744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7077456" y="2377440"/>
            <a:ext cx="1920240" cy="17373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7187184" y="24505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Shape 16"/>
          <p:cNvSpPr/>
          <p:nvPr/>
        </p:nvSpPr>
        <p:spPr>
          <a:xfrm>
            <a:off x="7690104" y="2697480"/>
            <a:ext cx="694944" cy="694944"/>
          </a:xfrm>
          <a:prstGeom prst="ellipse">
            <a:avLst/>
          </a:prstGeom>
          <a:solidFill>
            <a:srgbClr val="C9A15A"/>
          </a:solidFill>
          <a:ln/>
        </p:spPr>
      </p:sp>
      <p:pic>
        <p:nvPicPr>
          <p:cNvPr id="25" name="Image 6" descr="icons/bullhor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0789" y="2878165"/>
            <a:ext cx="333573" cy="333573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150608" y="3611880"/>
            <a:ext cx="1773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2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</a:t>
            </a:r>
            <a:endParaRPr lang="en-US" sz="1200" dirty="0"/>
          </a:p>
        </p:txBody>
      </p:sp>
      <p:pic>
        <p:nvPicPr>
          <p:cNvPr id="27" name="Image 7" descr="icons/arrowRight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15984" y="3127248"/>
            <a:ext cx="219456" cy="237744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9253728" y="2377440"/>
            <a:ext cx="1920240" cy="17373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19"/>
          <p:cNvSpPr/>
          <p:nvPr/>
        </p:nvSpPr>
        <p:spPr>
          <a:xfrm>
            <a:off x="9363456" y="24505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Shape 20"/>
          <p:cNvSpPr/>
          <p:nvPr/>
        </p:nvSpPr>
        <p:spPr>
          <a:xfrm>
            <a:off x="9866376" y="2697480"/>
            <a:ext cx="694944" cy="694944"/>
          </a:xfrm>
          <a:prstGeom prst="ellipse">
            <a:avLst/>
          </a:prstGeom>
          <a:solidFill>
            <a:srgbClr val="C9A15A"/>
          </a:solidFill>
          <a:ln/>
        </p:spPr>
      </p:sp>
      <p:pic>
        <p:nvPicPr>
          <p:cNvPr id="31" name="Image 8" descr="icons/checkCircl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47061" y="2878165"/>
            <a:ext cx="333573" cy="333573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9326880" y="3611880"/>
            <a:ext cx="17739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2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Conversion</a:t>
            </a:r>
            <a:endParaRPr lang="en-US" sz="1200" dirty="0"/>
          </a:p>
        </p:txBody>
      </p:sp>
      <p:sp>
        <p:nvSpPr>
          <p:cNvPr id="33" name="Text 22"/>
          <p:cNvSpPr/>
          <p:nvPr/>
        </p:nvSpPr>
        <p:spPr>
          <a:xfrm>
            <a:off x="548640" y="4617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9C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cycle feeds the next — consistent output compounds into consistent leads.</a:t>
            </a:r>
            <a:endParaRPr lang="en-US" sz="1250" dirty="0"/>
          </a:p>
        </p:txBody>
      </p:sp>
      <p:sp>
        <p:nvSpPr>
          <p:cNvPr id="34" name="Text 23"/>
          <p:cNvSpPr/>
          <p:nvPr/>
        </p:nvSpPr>
        <p:spPr>
          <a:xfrm>
            <a:off x="457200" y="65471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 Tech  ·  Social Media &amp; Content Partnership Proposal</a:t>
            </a:r>
            <a:endParaRPr lang="en-US" sz="900" dirty="0"/>
          </a:p>
        </p:txBody>
      </p:sp>
      <p:sp>
        <p:nvSpPr>
          <p:cNvPr id="35" name="Text 24"/>
          <p:cNvSpPr/>
          <p:nvPr/>
        </p:nvSpPr>
        <p:spPr>
          <a:xfrm>
            <a:off x="9902952" y="65471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 TECH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194560" cy="0"/>
          </a:xfrm>
          <a:prstGeom prst="line">
            <a:avLst/>
          </a:prstGeom>
          <a:noFill/>
          <a:ln w="25400">
            <a:solidFill>
              <a:srgbClr val="C9A1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—  FINAL IMPACT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2514600"/>
            <a:ext cx="10332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7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don’t just manage social media —</a:t>
            </a:r>
            <a:endParaRPr lang="en-US" sz="3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7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build your brand and bring you</a:t>
            </a:r>
            <a:endParaRPr lang="en-US" sz="3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7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 through strategy, storytelling,</a:t>
            </a:r>
            <a:endParaRPr lang="en-US" sz="3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7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premium content.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 TECH  ·  LET’S BUILD THE BRAND TOGETHER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2026-07-30T14:22:44Z</dcterms:created>
  <dcterms:modified xsi:type="dcterms:W3CDTF">2026-07-30T14:22:44Z</dcterms:modified>
</cp:coreProperties>
</file>